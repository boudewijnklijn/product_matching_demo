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9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1EB51-66E7-4A24-8C3A-D046B88D4FA1}" v="3" dt="2022-02-20T23:22:01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Stijl, donker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Stijl, licht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Stijl, licht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5503" autoAdjust="0"/>
  </p:normalViewPr>
  <p:slideViewPr>
    <p:cSldViewPr snapToGrid="0">
      <p:cViewPr varScale="1">
        <p:scale>
          <a:sx n="70" d="100"/>
          <a:sy n="70" d="100"/>
        </p:scale>
        <p:origin x="26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dewijn Klijn" userId="fc276a6aaefc0b88" providerId="LiveId" clId="{DE91EB51-66E7-4A24-8C3A-D046B88D4FA1}"/>
    <pc:docChg chg="undo custSel modSld sldOrd">
      <pc:chgData name="Boudewijn Klijn" userId="fc276a6aaefc0b88" providerId="LiveId" clId="{DE91EB51-66E7-4A24-8C3A-D046B88D4FA1}" dt="2022-02-20T23:30:49.393" v="892" actId="20577"/>
      <pc:docMkLst>
        <pc:docMk/>
      </pc:docMkLst>
      <pc:sldChg chg="modSp mod">
        <pc:chgData name="Boudewijn Klijn" userId="fc276a6aaefc0b88" providerId="LiveId" clId="{DE91EB51-66E7-4A24-8C3A-D046B88D4FA1}" dt="2022-02-20T23:30:49.393" v="892" actId="20577"/>
        <pc:sldMkLst>
          <pc:docMk/>
          <pc:sldMk cId="2585795159" sldId="257"/>
        </pc:sldMkLst>
        <pc:spChg chg="mod">
          <ac:chgData name="Boudewijn Klijn" userId="fc276a6aaefc0b88" providerId="LiveId" clId="{DE91EB51-66E7-4A24-8C3A-D046B88D4FA1}" dt="2022-02-20T23:30:49.393" v="892" actId="20577"/>
          <ac:spMkLst>
            <pc:docMk/>
            <pc:sldMk cId="2585795159" sldId="257"/>
            <ac:spMk id="3" creationId="{FF597B86-FAD4-4FCC-99F4-DDB071BFC0E6}"/>
          </ac:spMkLst>
        </pc:spChg>
      </pc:sldChg>
      <pc:sldChg chg="addSp delSp modSp mod ord">
        <pc:chgData name="Boudewijn Klijn" userId="fc276a6aaefc0b88" providerId="LiveId" clId="{DE91EB51-66E7-4A24-8C3A-D046B88D4FA1}" dt="2022-02-20T23:13:58.125" v="318" actId="21"/>
        <pc:sldMkLst>
          <pc:docMk/>
          <pc:sldMk cId="376435028" sldId="259"/>
        </pc:sldMkLst>
        <pc:spChg chg="mod">
          <ac:chgData name="Boudewijn Klijn" userId="fc276a6aaefc0b88" providerId="LiveId" clId="{DE91EB51-66E7-4A24-8C3A-D046B88D4FA1}" dt="2022-02-20T23:09:37.260" v="178" actId="20577"/>
          <ac:spMkLst>
            <pc:docMk/>
            <pc:sldMk cId="376435028" sldId="259"/>
            <ac:spMk id="3" creationId="{AA3E2BC4-48F1-4F69-9A3C-FD1643B2A385}"/>
          </ac:spMkLst>
        </pc:spChg>
        <pc:graphicFrameChg chg="add del">
          <ac:chgData name="Boudewijn Klijn" userId="fc276a6aaefc0b88" providerId="LiveId" clId="{DE91EB51-66E7-4A24-8C3A-D046B88D4FA1}" dt="2022-02-20T23:13:58.125" v="318" actId="21"/>
          <ac:graphicFrameMkLst>
            <pc:docMk/>
            <pc:sldMk cId="376435028" sldId="259"/>
            <ac:graphicFrameMk id="5" creationId="{BCE2EE10-B9F2-4C5F-9234-AC53A875113A}"/>
          </ac:graphicFrameMkLst>
        </pc:graphicFrameChg>
      </pc:sldChg>
      <pc:sldChg chg="addSp modSp mod">
        <pc:chgData name="Boudewijn Klijn" userId="fc276a6aaefc0b88" providerId="LiveId" clId="{DE91EB51-66E7-4A24-8C3A-D046B88D4FA1}" dt="2022-02-20T23:12:36.539" v="298" actId="1076"/>
        <pc:sldMkLst>
          <pc:docMk/>
          <pc:sldMk cId="3261541310" sldId="262"/>
        </pc:sldMkLst>
        <pc:picChg chg="add mod">
          <ac:chgData name="Boudewijn Klijn" userId="fc276a6aaefc0b88" providerId="LiveId" clId="{DE91EB51-66E7-4A24-8C3A-D046B88D4FA1}" dt="2022-02-20T23:12:36.539" v="298" actId="1076"/>
          <ac:picMkLst>
            <pc:docMk/>
            <pc:sldMk cId="3261541310" sldId="262"/>
            <ac:picMk id="5" creationId="{FC45D7F9-BD1A-4DD2-A9C3-45A99F7B0A0F}"/>
          </ac:picMkLst>
        </pc:picChg>
      </pc:sldChg>
      <pc:sldChg chg="addSp modSp mod">
        <pc:chgData name="Boudewijn Klijn" userId="fc276a6aaefc0b88" providerId="LiveId" clId="{DE91EB51-66E7-4A24-8C3A-D046B88D4FA1}" dt="2022-02-20T23:29:05.827" v="848" actId="20577"/>
        <pc:sldMkLst>
          <pc:docMk/>
          <pc:sldMk cId="19552835" sldId="263"/>
        </pc:sldMkLst>
        <pc:spChg chg="mod">
          <ac:chgData name="Boudewijn Klijn" userId="fc276a6aaefc0b88" providerId="LiveId" clId="{DE91EB51-66E7-4A24-8C3A-D046B88D4FA1}" dt="2022-02-20T23:17:34.428" v="638" actId="20577"/>
          <ac:spMkLst>
            <pc:docMk/>
            <pc:sldMk cId="19552835" sldId="263"/>
            <ac:spMk id="2" creationId="{717B13BF-C7C2-496A-835B-3F19EDCAC48D}"/>
          </ac:spMkLst>
        </pc:spChg>
        <pc:spChg chg="mod">
          <ac:chgData name="Boudewijn Klijn" userId="fc276a6aaefc0b88" providerId="LiveId" clId="{DE91EB51-66E7-4A24-8C3A-D046B88D4FA1}" dt="2022-02-20T23:16:33.523" v="590" actId="20577"/>
          <ac:spMkLst>
            <pc:docMk/>
            <pc:sldMk cId="19552835" sldId="263"/>
            <ac:spMk id="3" creationId="{A23B5036-8429-48EC-BCFC-75552B414E04}"/>
          </ac:spMkLst>
        </pc:spChg>
        <pc:graphicFrameChg chg="add mod modGraphic">
          <ac:chgData name="Boudewijn Klijn" userId="fc276a6aaefc0b88" providerId="LiveId" clId="{DE91EB51-66E7-4A24-8C3A-D046B88D4FA1}" dt="2022-02-20T23:29:05.827" v="848" actId="20577"/>
          <ac:graphicFrameMkLst>
            <pc:docMk/>
            <pc:sldMk cId="19552835" sldId="263"/>
            <ac:graphicFrameMk id="4" creationId="{11122213-76D0-4BAC-A2E2-774A0C431D2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D0B44-8BC4-4918-B1E5-12A439256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6F6B0A8-2CEB-44E1-8E7D-70E4A8007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CF71337-C062-4195-8E81-AEB418E1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625CB4-F448-4019-BE63-1227F1B1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E9A553-5517-4BBB-BF07-05C7E259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884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ED02B-CC31-4577-B85A-50AAD60D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E344F9-E160-4F15-85BE-BB0086BB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68EF012-95C0-4BC4-90D9-BCA485F1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852B6D6-B79E-4674-9231-6E1F5D45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C86C8E-A5A7-47D0-A1E4-8DF1A7A0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592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A3A9D-BAAF-4EA0-99DD-F071A5A5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469486-51E2-4698-81CB-BECC97C90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54DC79-8D19-4591-98C1-2C5BA119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933D5D-DE2E-4E18-B226-7CD39220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3C537A-E6E0-43CC-89C2-F76C4E7E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553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1D2F4-56A1-4DC5-8BB2-76AABE014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452815-CF2E-4449-9C39-1A0357005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8269D3F-7086-476C-BD62-3B8BCCD59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10DB661-D2B0-4E81-90A4-C5C25C0C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9185D32-D7E0-4490-A256-2957CDF3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96E5D5-26D8-4FCD-AD43-43F0F9E8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71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27260-A7FF-427A-A501-28887E2C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52C4A49-D368-426A-AEFD-EC431EC3B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60B333-C095-4D98-8470-1C6C21D5B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65E8C59-7C72-4842-9B7A-A2CFD52D6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C0680D-F506-499C-A01D-4ACABE675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191345B-5428-4311-B06D-710BE275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DF29D24-30A3-4CBE-807A-26DBD161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87A96A-6BBB-43F0-8A4C-96F868FC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726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988B7-6E17-462C-95F4-E405E8BA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E1568CC-0D47-4DEC-BCEF-8C97A636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8ACDA8C-687C-4816-ADE4-6AD0F405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85F1CB3-92D5-4204-BBE6-0DBDC8DD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505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5D6549B-CEDA-41B9-ABFD-58C1C144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CA701D9-8D7C-4F36-8255-2FEEEFA2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0328F6-34F8-4264-BEFC-792EA53B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416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84C8E-0DF8-4F9A-86C8-9F9AD62E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8B18028-88D3-44D4-8C4A-942A6C70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8CA93D-97F2-4E9F-BA21-7A07A94B0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AEEBAA3-5C00-41A5-A320-F8AA2FBE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0AC395B-31DB-4806-A85A-E5117FD5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E385B52-0C82-4887-8F99-0313CD9E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909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F0E31F-80B3-42BE-9DDB-B428FDFE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7739A3-BF96-4DA4-BC3E-BE9AF1457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B1672BE-60D9-45CF-AD73-18237FE5B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2F70DE5-EF1D-4407-91F1-BF16A917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324E596-7905-4DD8-B42E-9714C3E59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B17D026-096F-4010-92D0-485D9081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23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0498B-2B14-4E86-B6DD-E27DDC77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6A93773-FE92-4D44-8A42-E09DC510E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9FA4D7-D46E-4345-B0BB-ECCF9D8F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B813687-82E3-4304-A6B2-99B750BA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B850D7-933C-4F44-B17D-016E5D33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64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EEC0EBBD-DEF4-4EFD-B390-5B8B0C517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2A0244A-06F4-4770-A989-A53958837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764B40-F485-4334-9844-6AFC1BD8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66F1155-B4AB-418F-B154-39005990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34589FA-AA0F-4569-A559-A72B90CD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678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7FFAB83-FFDD-4B35-9304-F61CCF3C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BBFB36-88AC-41B1-85E1-28090E1CE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145944-E8C2-4F5F-9D6C-B7747025A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80E18-03CA-4543-A2A5-020D5013060C}" type="datetimeFigureOut">
              <a:rPr lang="nl-NL" smtClean="0"/>
              <a:t>25-11-2025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552E76-4866-49DD-8D27-7DF599F6C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061C48E-EA16-4940-A747-8DD4BAFC8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5C6FE-023A-4FA4-90BA-81BD6E61DCD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955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42BA6E-7625-4810-90A6-DC5EB878D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Voorbeeld project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39D8838-B155-49A2-B99F-376682E31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722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2DEFE-C710-4A1C-B7B4-E689EF99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597B86-FAD4-4FCC-99F4-DDB071BFC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Role</a:t>
            </a:r>
          </a:p>
          <a:p>
            <a:r>
              <a:rPr lang="en-US" dirty="0"/>
              <a:t>Solution</a:t>
            </a:r>
          </a:p>
          <a:p>
            <a:r>
              <a:rPr lang="en-US" dirty="0"/>
              <a:t>Improvements &amp; challenges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579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3B817-18B8-45BE-854B-8B04F1E5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IKEA: product matching</a:t>
            </a:r>
            <a:br>
              <a:rPr lang="nl-NL" noProof="0" dirty="0"/>
            </a:br>
            <a:endParaRPr lang="nl-NL" noProof="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4485E27-CBBA-E166-6D47-84A618000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32"/>
          <a:stretch>
            <a:fillRect/>
          </a:stretch>
        </p:blipFill>
        <p:spPr>
          <a:xfrm>
            <a:off x="678344" y="2522810"/>
            <a:ext cx="5194926" cy="2274881"/>
          </a:xfr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0EEECD8E-C6CC-4DB1-8EC2-D4BAEACF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151" y="1825625"/>
            <a:ext cx="2206743" cy="1834626"/>
          </a:xfrm>
          <a:prstGeom prst="rect">
            <a:avLst/>
          </a:prstGeom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044C9EC1-D015-43A2-81DB-5CBB8433D671}"/>
              </a:ext>
            </a:extLst>
          </p:cNvPr>
          <p:cNvGrpSpPr/>
          <p:nvPr/>
        </p:nvGrpSpPr>
        <p:grpSpPr>
          <a:xfrm>
            <a:off x="6785800" y="3865249"/>
            <a:ext cx="1290188" cy="449064"/>
            <a:chOff x="5035811" y="2161549"/>
            <a:chExt cx="1290188" cy="449064"/>
          </a:xfrm>
        </p:grpSpPr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66DD9CD4-25EC-4BFE-99A9-98A39044A25C}"/>
                </a:ext>
              </a:extLst>
            </p:cNvPr>
            <p:cNvSpPr txBox="1"/>
            <p:nvPr/>
          </p:nvSpPr>
          <p:spPr>
            <a:xfrm>
              <a:off x="5035811" y="2161549"/>
              <a:ext cx="1001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1AB73A"/>
                  </a:solidFill>
                </a:rPr>
                <a:t>MATCH</a:t>
              </a:r>
              <a:endParaRPr lang="nl-NL" b="1" dirty="0">
                <a:solidFill>
                  <a:srgbClr val="1AB73A"/>
                </a:solidFill>
              </a:endParaRPr>
            </a:p>
          </p:txBody>
        </p:sp>
        <p:pic>
          <p:nvPicPr>
            <p:cNvPr id="18" name="Afbeelding 17" descr="Afbeelding met pijl&#10;&#10;Automatisch gegenereerde beschrijving">
              <a:extLst>
                <a:ext uri="{FF2B5EF4-FFF2-40B4-BE49-F238E27FC236}">
                  <a16:creationId xmlns:a16="http://schemas.microsoft.com/office/drawing/2014/main" id="{1BE27E10-70F4-4E5B-9B35-7F6156906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7469" y="2193623"/>
              <a:ext cx="398530" cy="416990"/>
            </a:xfrm>
            <a:prstGeom prst="rect">
              <a:avLst/>
            </a:prstGeom>
          </p:spPr>
        </p:pic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7D9002B5-C354-4C2A-8798-C9022CE01331}"/>
              </a:ext>
            </a:extLst>
          </p:cNvPr>
          <p:cNvGrpSpPr/>
          <p:nvPr/>
        </p:nvGrpSpPr>
        <p:grpSpPr>
          <a:xfrm>
            <a:off x="8921531" y="3848481"/>
            <a:ext cx="1855472" cy="394006"/>
            <a:chOff x="8472596" y="2171676"/>
            <a:chExt cx="1855472" cy="394006"/>
          </a:xfrm>
        </p:grpSpPr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63EE05EC-9DA5-4136-AE44-713E1F1CFD6E}"/>
                </a:ext>
              </a:extLst>
            </p:cNvPr>
            <p:cNvSpPr txBox="1"/>
            <p:nvPr/>
          </p:nvSpPr>
          <p:spPr>
            <a:xfrm>
              <a:off x="8472596" y="2171676"/>
              <a:ext cx="1398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E81313"/>
                  </a:solidFill>
                </a:rPr>
                <a:t>NO MATCH</a:t>
              </a:r>
              <a:endParaRPr lang="nl-NL" b="1" dirty="0">
                <a:solidFill>
                  <a:srgbClr val="E81313"/>
                </a:solidFill>
              </a:endParaRPr>
            </a:p>
          </p:txBody>
        </p:sp>
        <p:pic>
          <p:nvPicPr>
            <p:cNvPr id="21" name="Afbeelding 20">
              <a:extLst>
                <a:ext uri="{FF2B5EF4-FFF2-40B4-BE49-F238E27FC236}">
                  <a16:creationId xmlns:a16="http://schemas.microsoft.com/office/drawing/2014/main" id="{2F499C73-2839-487C-8C06-088DB8530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1249" y="2171676"/>
              <a:ext cx="456819" cy="394006"/>
            </a:xfrm>
            <a:prstGeom prst="rect">
              <a:avLst/>
            </a:prstGeom>
          </p:spPr>
        </p:pic>
      </p:grp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A8CE6762-D737-43F9-9276-DCB255811A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" r="283"/>
          <a:stretch/>
        </p:blipFill>
        <p:spPr>
          <a:xfrm>
            <a:off x="6318731" y="4399266"/>
            <a:ext cx="2206743" cy="185280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2B42AA71-E0F5-4241-94CE-61C89DCD64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210" y="4345868"/>
            <a:ext cx="2193580" cy="19595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C8CA2D-7E9E-2B67-97FC-BCEAD47E68FC}"/>
              </a:ext>
            </a:extLst>
          </p:cNvPr>
          <p:cNvSpPr txBox="1"/>
          <p:nvPr/>
        </p:nvSpPr>
        <p:spPr>
          <a:xfrm>
            <a:off x="2388870" y="3980877"/>
            <a:ext cx="131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IKEA</a:t>
            </a:r>
            <a:endParaRPr lang="nl-NL" sz="2800" b="1" dirty="0"/>
          </a:p>
        </p:txBody>
      </p:sp>
    </p:spTree>
    <p:extLst>
      <p:ext uri="{BB962C8B-B14F-4D97-AF65-F5344CB8AC3E}">
        <p14:creationId xmlns:p14="http://schemas.microsoft.com/office/powerpoint/2010/main" val="185310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5C8B-EB16-A606-C2E4-39CDCCDD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Joint cross-</a:t>
            </a:r>
            <a:r>
              <a:rPr lang="nl-NL" dirty="0" err="1"/>
              <a:t>functional</a:t>
            </a:r>
            <a:r>
              <a:rPr lang="nl-NL" dirty="0"/>
              <a:t> team</a:t>
            </a:r>
            <a:br>
              <a:rPr lang="nl-NL" dirty="0"/>
            </a:b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46D66-41EF-339F-06D9-81A736009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15 people (Valcon &amp; IKEA)</a:t>
            </a:r>
          </a:p>
          <a:p>
            <a:r>
              <a:rPr lang="en-US" dirty="0"/>
              <a:t>2 data scientists (later 3)</a:t>
            </a:r>
          </a:p>
          <a:p>
            <a:r>
              <a:rPr lang="en-US" dirty="0"/>
              <a:t>Responsibilities:	</a:t>
            </a:r>
          </a:p>
          <a:p>
            <a:pPr lvl="1"/>
            <a:r>
              <a:rPr lang="en-US" dirty="0"/>
              <a:t>Initial version</a:t>
            </a:r>
          </a:p>
          <a:p>
            <a:pPr lvl="1"/>
            <a:r>
              <a:rPr lang="en-US" dirty="0"/>
              <a:t>Iterative modelling improvements</a:t>
            </a:r>
          </a:p>
          <a:p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9097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0B3C6-7177-4DA8-A4CD-BE399548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(1)</a:t>
            </a:r>
            <a:br>
              <a:rPr lang="en-US" dirty="0"/>
            </a:br>
            <a:br>
              <a:rPr lang="en-US" sz="1800" dirty="0"/>
            </a:br>
            <a:r>
              <a:rPr lang="en-US" sz="1800" dirty="0"/>
              <a:t>Product information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embeddings</a:t>
            </a:r>
            <a:endParaRPr lang="nl-NL" sz="1800" dirty="0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F33151D9-E758-4437-A836-55DCEDDC1114}"/>
              </a:ext>
            </a:extLst>
          </p:cNvPr>
          <p:cNvSpPr/>
          <p:nvPr/>
        </p:nvSpPr>
        <p:spPr>
          <a:xfrm>
            <a:off x="5653076" y="3187193"/>
            <a:ext cx="1893991" cy="18939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Pijl: rechts 19">
            <a:extLst>
              <a:ext uri="{FF2B5EF4-FFF2-40B4-BE49-F238E27FC236}">
                <a16:creationId xmlns:a16="http://schemas.microsoft.com/office/drawing/2014/main" id="{E30724CE-1356-44BA-B2C3-D1CD3C1B474A}"/>
              </a:ext>
            </a:extLst>
          </p:cNvPr>
          <p:cNvSpPr/>
          <p:nvPr/>
        </p:nvSpPr>
        <p:spPr>
          <a:xfrm>
            <a:off x="4536868" y="3874005"/>
            <a:ext cx="648313" cy="4383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Pijl: rechts 20">
            <a:extLst>
              <a:ext uri="{FF2B5EF4-FFF2-40B4-BE49-F238E27FC236}">
                <a16:creationId xmlns:a16="http://schemas.microsoft.com/office/drawing/2014/main" id="{A9A764F5-6567-4A9C-8CEE-F4C69565436F}"/>
              </a:ext>
            </a:extLst>
          </p:cNvPr>
          <p:cNvSpPr/>
          <p:nvPr/>
        </p:nvSpPr>
        <p:spPr>
          <a:xfrm>
            <a:off x="7972428" y="3933502"/>
            <a:ext cx="648313" cy="4383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22" name="Tabel 13">
            <a:extLst>
              <a:ext uri="{FF2B5EF4-FFF2-40B4-BE49-F238E27FC236}">
                <a16:creationId xmlns:a16="http://schemas.microsoft.com/office/drawing/2014/main" id="{732101F8-E5BD-4539-8ED0-6D229C82C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66722"/>
              </p:ext>
            </p:extLst>
          </p:nvPr>
        </p:nvGraphicFramePr>
        <p:xfrm>
          <a:off x="9054147" y="2735809"/>
          <a:ext cx="1598646" cy="27023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2882">
                  <a:extLst>
                    <a:ext uri="{9D8B030D-6E8A-4147-A177-3AD203B41FA5}">
                      <a16:colId xmlns:a16="http://schemas.microsoft.com/office/drawing/2014/main" val="2250626851"/>
                    </a:ext>
                  </a:extLst>
                </a:gridCol>
                <a:gridCol w="532882">
                  <a:extLst>
                    <a:ext uri="{9D8B030D-6E8A-4147-A177-3AD203B41FA5}">
                      <a16:colId xmlns:a16="http://schemas.microsoft.com/office/drawing/2014/main" val="3277782910"/>
                    </a:ext>
                  </a:extLst>
                </a:gridCol>
                <a:gridCol w="532882">
                  <a:extLst>
                    <a:ext uri="{9D8B030D-6E8A-4147-A177-3AD203B41FA5}">
                      <a16:colId xmlns:a16="http://schemas.microsoft.com/office/drawing/2014/main" val="1892407745"/>
                    </a:ext>
                  </a:extLst>
                </a:gridCol>
              </a:tblGrid>
              <a:tr h="337638">
                <a:tc gridSpan="3"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embeddings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 hMerge="1">
                  <a:txBody>
                    <a:bodyPr/>
                    <a:lstStyle/>
                    <a:p>
                      <a:r>
                        <a:rPr lang="en-GB" sz="1400" dirty="0"/>
                        <a:t>vector</a:t>
                      </a:r>
                      <a:endParaRPr lang="nl-NL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sz="1400" dirty="0"/>
                        <a:t>vector</a:t>
                      </a:r>
                      <a:endParaRPr lang="nl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86052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0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0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4184459123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0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/>
                        <a:t>1</a:t>
                      </a:r>
                      <a:endParaRPr lang="nl-NL" sz="190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2032233106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1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/>
                        <a:t>0</a:t>
                      </a:r>
                      <a:endParaRPr lang="nl-NL" sz="190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3648288235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/>
                        <a:t>…</a:t>
                      </a:r>
                      <a:endParaRPr lang="nl-NL" sz="190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3392013218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1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/>
                        <a:t>0</a:t>
                      </a:r>
                      <a:endParaRPr lang="nl-NL" sz="190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206436148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0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/>
                        <a:t>0</a:t>
                      </a:r>
                      <a:endParaRPr lang="nl-NL" sz="190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1216463504"/>
                  </a:ext>
                </a:extLst>
              </a:tr>
              <a:tr h="337638"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0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…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 dirty="0"/>
                        <a:t>1</a:t>
                      </a:r>
                      <a:endParaRPr lang="nl-NL" sz="1900" dirty="0"/>
                    </a:p>
                  </a:txBody>
                  <a:tcPr marL="48234" marR="48234" marT="24117" marB="24117"/>
                </a:tc>
                <a:extLst>
                  <a:ext uri="{0D108BD9-81ED-4DB2-BD59-A6C34878D82A}">
                    <a16:rowId xmlns:a16="http://schemas.microsoft.com/office/drawing/2014/main" val="2381800013"/>
                  </a:ext>
                </a:extLst>
              </a:tr>
            </a:tbl>
          </a:graphicData>
        </a:graphic>
      </p:graphicFrame>
      <p:pic>
        <p:nvPicPr>
          <p:cNvPr id="23" name="Afbeelding 22">
            <a:extLst>
              <a:ext uri="{FF2B5EF4-FFF2-40B4-BE49-F238E27FC236}">
                <a16:creationId xmlns:a16="http://schemas.microsoft.com/office/drawing/2014/main" id="{2AA9E2A9-6199-422A-B2CA-9E176E5ADC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683" y="3517021"/>
            <a:ext cx="1388053" cy="1263363"/>
          </a:xfrm>
          <a:prstGeom prst="rect">
            <a:avLst/>
          </a:prstGeom>
        </p:spPr>
      </p:pic>
      <p:grpSp>
        <p:nvGrpSpPr>
          <p:cNvPr id="24" name="Groep 23">
            <a:extLst>
              <a:ext uri="{FF2B5EF4-FFF2-40B4-BE49-F238E27FC236}">
                <a16:creationId xmlns:a16="http://schemas.microsoft.com/office/drawing/2014/main" id="{B1A5D64C-63EC-4BD4-9D1B-C9624111C060}"/>
              </a:ext>
            </a:extLst>
          </p:cNvPr>
          <p:cNvGrpSpPr/>
          <p:nvPr/>
        </p:nvGrpSpPr>
        <p:grpSpPr>
          <a:xfrm>
            <a:off x="849010" y="3187193"/>
            <a:ext cx="1368506" cy="1799319"/>
            <a:chOff x="1787369" y="1795161"/>
            <a:chExt cx="1245854" cy="1638055"/>
          </a:xfrm>
        </p:grpSpPr>
        <p:sp>
          <p:nvSpPr>
            <p:cNvPr id="25" name="Tekstvak 24">
              <a:extLst>
                <a:ext uri="{FF2B5EF4-FFF2-40B4-BE49-F238E27FC236}">
                  <a16:creationId xmlns:a16="http://schemas.microsoft.com/office/drawing/2014/main" id="{0E650C52-AE90-4CDC-AF2B-B2567E2586B1}"/>
                </a:ext>
              </a:extLst>
            </p:cNvPr>
            <p:cNvSpPr txBox="1"/>
            <p:nvPr/>
          </p:nvSpPr>
          <p:spPr>
            <a:xfrm>
              <a:off x="2042290" y="1795161"/>
              <a:ext cx="736012" cy="310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images</a:t>
              </a:r>
              <a:endParaRPr lang="nl-NL" sz="2400" b="1" dirty="0">
                <a:solidFill>
                  <a:schemeClr val="accent2"/>
                </a:solidFill>
              </a:endParaRPr>
            </a:p>
          </p:txBody>
        </p:sp>
        <p:pic>
          <p:nvPicPr>
            <p:cNvPr id="26" name="Afbeelding 25">
              <a:extLst>
                <a:ext uri="{FF2B5EF4-FFF2-40B4-BE49-F238E27FC236}">
                  <a16:creationId xmlns:a16="http://schemas.microsoft.com/office/drawing/2014/main" id="{2AC1E580-218C-496E-BCC2-030E3BC37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7369" y="2218153"/>
              <a:ext cx="1245854" cy="1215063"/>
            </a:xfrm>
            <a:prstGeom prst="ellipse">
              <a:avLst/>
            </a:prstGeom>
            <a:ln w="38100">
              <a:solidFill>
                <a:schemeClr val="accent2"/>
              </a:solidFill>
            </a:ln>
          </p:spPr>
        </p:pic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20C0267C-438D-4768-8EB1-1B3BEB4B97BB}"/>
              </a:ext>
            </a:extLst>
          </p:cNvPr>
          <p:cNvGrpSpPr/>
          <p:nvPr/>
        </p:nvGrpSpPr>
        <p:grpSpPr>
          <a:xfrm>
            <a:off x="2485751" y="2111591"/>
            <a:ext cx="1350041" cy="1762414"/>
            <a:chOff x="679867" y="3368800"/>
            <a:chExt cx="1229044" cy="1604458"/>
          </a:xfrm>
        </p:grpSpPr>
        <p:sp>
          <p:nvSpPr>
            <p:cNvPr id="28" name="Tekstvak 27">
              <a:extLst>
                <a:ext uri="{FF2B5EF4-FFF2-40B4-BE49-F238E27FC236}">
                  <a16:creationId xmlns:a16="http://schemas.microsoft.com/office/drawing/2014/main" id="{ADEA913D-527B-472E-A2C8-4314218993BB}"/>
                </a:ext>
              </a:extLst>
            </p:cNvPr>
            <p:cNvSpPr txBox="1"/>
            <p:nvPr/>
          </p:nvSpPr>
          <p:spPr>
            <a:xfrm>
              <a:off x="1062605" y="3368800"/>
              <a:ext cx="463568" cy="310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accent2"/>
                  </a:solidFill>
                </a:rPr>
                <a:t>title</a:t>
              </a:r>
              <a:endParaRPr lang="nl-NL" sz="2400" b="1" dirty="0">
                <a:solidFill>
                  <a:schemeClr val="accent2"/>
                </a:solidFill>
              </a:endParaRPr>
            </a:p>
          </p:txBody>
        </p:sp>
        <p:pic>
          <p:nvPicPr>
            <p:cNvPr id="29" name="Afbeelding 28">
              <a:extLst>
                <a:ext uri="{FF2B5EF4-FFF2-40B4-BE49-F238E27FC236}">
                  <a16:creationId xmlns:a16="http://schemas.microsoft.com/office/drawing/2014/main" id="{E9379886-BEE6-4D86-A68D-5DBE5A753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67" y="3802740"/>
              <a:ext cx="1229044" cy="1170518"/>
            </a:xfrm>
            <a:prstGeom prst="ellipse">
              <a:avLst/>
            </a:prstGeom>
            <a:ln w="38100">
              <a:solidFill>
                <a:schemeClr val="accent2"/>
              </a:solidFill>
            </a:ln>
          </p:spPr>
        </p:pic>
      </p:grpSp>
      <p:grpSp>
        <p:nvGrpSpPr>
          <p:cNvPr id="30" name="Groep 29">
            <a:extLst>
              <a:ext uri="{FF2B5EF4-FFF2-40B4-BE49-F238E27FC236}">
                <a16:creationId xmlns:a16="http://schemas.microsoft.com/office/drawing/2014/main" id="{6978C02F-02CA-46E9-BEBD-D5A8785FB4AA}"/>
              </a:ext>
            </a:extLst>
          </p:cNvPr>
          <p:cNvGrpSpPr/>
          <p:nvPr/>
        </p:nvGrpSpPr>
        <p:grpSpPr>
          <a:xfrm>
            <a:off x="2512417" y="4086985"/>
            <a:ext cx="1350958" cy="1799054"/>
            <a:chOff x="2465779" y="4555352"/>
            <a:chExt cx="1229879" cy="1637815"/>
          </a:xfrm>
        </p:grpSpPr>
        <p:sp>
          <p:nvSpPr>
            <p:cNvPr id="31" name="Tekstvak 30">
              <a:extLst>
                <a:ext uri="{FF2B5EF4-FFF2-40B4-BE49-F238E27FC236}">
                  <a16:creationId xmlns:a16="http://schemas.microsoft.com/office/drawing/2014/main" id="{F20929D0-1D94-4B30-8587-4CAB5FB89114}"/>
                </a:ext>
              </a:extLst>
            </p:cNvPr>
            <p:cNvSpPr txBox="1"/>
            <p:nvPr/>
          </p:nvSpPr>
          <p:spPr>
            <a:xfrm>
              <a:off x="2519126" y="4555352"/>
              <a:ext cx="1123185" cy="310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description</a:t>
              </a:r>
              <a:endParaRPr lang="nl-NL" sz="2400" b="1" dirty="0">
                <a:solidFill>
                  <a:schemeClr val="accent2"/>
                </a:solidFill>
              </a:endParaRPr>
            </a:p>
          </p:txBody>
        </p:sp>
        <p:pic>
          <p:nvPicPr>
            <p:cNvPr id="32" name="Afbeelding 31">
              <a:extLst>
                <a:ext uri="{FF2B5EF4-FFF2-40B4-BE49-F238E27FC236}">
                  <a16:creationId xmlns:a16="http://schemas.microsoft.com/office/drawing/2014/main" id="{2F0D7553-B00F-4AE7-A6B2-E7B533CEE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65779" y="4986493"/>
              <a:ext cx="1229879" cy="1206674"/>
            </a:xfrm>
            <a:prstGeom prst="ellipse">
              <a:avLst/>
            </a:prstGeom>
            <a:ln w="38100">
              <a:solidFill>
                <a:schemeClr val="accent2"/>
              </a:solidFill>
            </a:ln>
          </p:spPr>
        </p:pic>
      </p:grpSp>
      <p:sp>
        <p:nvSpPr>
          <p:cNvPr id="33" name="Tekstvak 32">
            <a:extLst>
              <a:ext uri="{FF2B5EF4-FFF2-40B4-BE49-F238E27FC236}">
                <a16:creationId xmlns:a16="http://schemas.microsoft.com/office/drawing/2014/main" id="{9498218C-C13B-406B-91B4-F83D2B7E76DC}"/>
              </a:ext>
            </a:extLst>
          </p:cNvPr>
          <p:cNvSpPr txBox="1"/>
          <p:nvPr/>
        </p:nvSpPr>
        <p:spPr>
          <a:xfrm>
            <a:off x="5588322" y="2452526"/>
            <a:ext cx="2023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2"/>
                </a:solidFill>
              </a:rPr>
              <a:t>Machine learning models </a:t>
            </a:r>
            <a:endParaRPr lang="nl-NL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68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C3127-1F41-40D2-983B-3F78B37B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(2)</a:t>
            </a:r>
            <a:br>
              <a:rPr lang="en-US" dirty="0"/>
            </a:br>
            <a:br>
              <a:rPr lang="en-US" sz="1800" dirty="0"/>
            </a:br>
            <a:r>
              <a:rPr lang="en-US" sz="1800" dirty="0"/>
              <a:t>Embeddings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scores</a:t>
            </a:r>
            <a:endParaRPr lang="nl-NL" sz="1800" dirty="0"/>
          </a:p>
        </p:txBody>
      </p:sp>
      <p:graphicFrame>
        <p:nvGraphicFramePr>
          <p:cNvPr id="4" name="Tabel 10">
            <a:extLst>
              <a:ext uri="{FF2B5EF4-FFF2-40B4-BE49-F238E27FC236}">
                <a16:creationId xmlns:a16="http://schemas.microsoft.com/office/drawing/2014/main" id="{60C9F4B1-2195-4E6C-B546-240BA066F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60588"/>
              </p:ext>
            </p:extLst>
          </p:nvPr>
        </p:nvGraphicFramePr>
        <p:xfrm>
          <a:off x="6413346" y="4511510"/>
          <a:ext cx="4548024" cy="11773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74012">
                  <a:extLst>
                    <a:ext uri="{9D8B030D-6E8A-4147-A177-3AD203B41FA5}">
                      <a16:colId xmlns:a16="http://schemas.microsoft.com/office/drawing/2014/main" val="3414394785"/>
                    </a:ext>
                  </a:extLst>
                </a:gridCol>
                <a:gridCol w="2274012">
                  <a:extLst>
                    <a:ext uri="{9D8B030D-6E8A-4147-A177-3AD203B41FA5}">
                      <a16:colId xmlns:a16="http://schemas.microsoft.com/office/drawing/2014/main" val="4270524180"/>
                    </a:ext>
                  </a:extLst>
                </a:gridCol>
              </a:tblGrid>
              <a:tr h="506799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rgbClr val="0000FF"/>
                          </a:solidFill>
                        </a:rPr>
                        <a:t>Blue </a:t>
                      </a:r>
                      <a:r>
                        <a:rPr lang="en-GB" sz="1600" dirty="0"/>
                        <a:t>compared with …</a:t>
                      </a:r>
                      <a:endParaRPr lang="nl-NL" sz="160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Cosine similarity</a:t>
                      </a:r>
                      <a:endParaRPr lang="nl-NL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791565"/>
                  </a:ext>
                </a:extLst>
              </a:tr>
              <a:tr h="290525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rgbClr val="FFA300"/>
                          </a:solidFill>
                        </a:rPr>
                        <a:t>Orange</a:t>
                      </a:r>
                      <a:endParaRPr lang="nl-NL" sz="1600" b="1">
                        <a:solidFill>
                          <a:srgbClr val="FFA3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0.99</a:t>
                      </a:r>
                      <a:endParaRPr lang="nl-NL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718588"/>
                  </a:ext>
                </a:extLst>
              </a:tr>
              <a:tr h="290525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rgbClr val="007B00"/>
                          </a:solidFill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0.60</a:t>
                      </a:r>
                      <a:endParaRPr lang="nl-NL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768766"/>
                  </a:ext>
                </a:extLst>
              </a:tr>
            </a:tbl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E82D0397-B5B0-4B3A-A117-0E36CBCAA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440" y="1760048"/>
            <a:ext cx="2701484" cy="259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FB046240-55CF-41CE-A030-44E0C85A8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575" y="2015036"/>
            <a:ext cx="3224229" cy="20825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5B4A08-E541-C90C-9AA5-8BA100906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137" y="4618673"/>
            <a:ext cx="2286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3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355FC-E57A-489E-AD4B-A89CC3DE1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 (3)</a:t>
            </a:r>
            <a:br>
              <a:rPr lang="en-US" dirty="0"/>
            </a:br>
            <a:br>
              <a:rPr lang="en-US" sz="1800" dirty="0"/>
            </a:br>
            <a:r>
              <a:rPr lang="en-US" sz="1800" dirty="0"/>
              <a:t>Scores </a:t>
            </a:r>
            <a:r>
              <a:rPr lang="en-US" sz="1800" dirty="0">
                <a:sym typeface="Wingdings" panose="05000000000000000000" pitchFamily="2" charset="2"/>
              </a:rPr>
              <a:t> ranking</a:t>
            </a:r>
            <a:endParaRPr lang="nl-NL" sz="18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AC3172-4873-4376-9152-F074B5DEC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Supervised classification model</a:t>
            </a:r>
            <a:endParaRPr lang="en-US" dirty="0"/>
          </a:p>
          <a:p>
            <a:pPr lvl="1"/>
            <a:r>
              <a:rPr lang="en-US" sz="1800" dirty="0"/>
              <a:t>Features: scores</a:t>
            </a:r>
          </a:p>
          <a:p>
            <a:pPr lvl="1"/>
            <a:r>
              <a:rPr lang="en-US" sz="1800" dirty="0"/>
              <a:t>Target: validated (non-)matches</a:t>
            </a:r>
            <a:endParaRPr lang="nl-NL" sz="18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54EA1EE-0F5B-4B43-915F-A49C5561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410" y="2042808"/>
            <a:ext cx="48387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4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E03C-D113-5D7E-9AF7-9D39D908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  <a:br>
              <a:rPr lang="en-US" dirty="0"/>
            </a:b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131C-B80F-5653-DB6E-E5C1070A2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PySpark</a:t>
            </a:r>
            <a:r>
              <a:rPr lang="en-US" dirty="0"/>
              <a:t> (challenge)</a:t>
            </a:r>
          </a:p>
          <a:p>
            <a:r>
              <a:rPr lang="en-US" dirty="0"/>
              <a:t>All-to-all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LSH</a:t>
            </a:r>
          </a:p>
          <a:p>
            <a:r>
              <a:rPr lang="en-US" dirty="0"/>
              <a:t>Multi stage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Single model</a:t>
            </a:r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7D401-EE72-FF3D-18F5-206F000E8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" t="11115" r="2464"/>
          <a:stretch>
            <a:fillRect/>
          </a:stretch>
        </p:blipFill>
        <p:spPr>
          <a:xfrm>
            <a:off x="6096000" y="2276902"/>
            <a:ext cx="4194811" cy="344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8932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139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Kantoorthema</vt:lpstr>
      <vt:lpstr>Voorbeeld project</vt:lpstr>
      <vt:lpstr>Agenda</vt:lpstr>
      <vt:lpstr>IKEA: product matching </vt:lpstr>
      <vt:lpstr>Joint cross-functional team </vt:lpstr>
      <vt:lpstr>Solution (1)  Product information  embeddings</vt:lpstr>
      <vt:lpstr>Solution (2)  Embeddings  scores</vt:lpstr>
      <vt:lpstr>Solution (3)  Scores  ranking</vt:lpstr>
      <vt:lpstr>Improvements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Voorbeeld project</dc:title>
  <dc:creator>Boudewijn Klijn</dc:creator>
  <cp:lastModifiedBy>Boudewijn Klijn</cp:lastModifiedBy>
  <cp:revision>23</cp:revision>
  <dcterms:created xsi:type="dcterms:W3CDTF">2022-02-20T22:08:23Z</dcterms:created>
  <dcterms:modified xsi:type="dcterms:W3CDTF">2025-11-25T10:55:44Z</dcterms:modified>
</cp:coreProperties>
</file>